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69" r:id="rId7"/>
    <p:sldId id="270" r:id="rId8"/>
    <p:sldId id="268" r:id="rId9"/>
    <p:sldId id="271" r:id="rId10"/>
    <p:sldId id="272" r:id="rId11"/>
    <p:sldId id="274" r:id="rId12"/>
    <p:sldId id="275" r:id="rId13"/>
    <p:sldId id="276" r:id="rId14"/>
    <p:sldId id="277" r:id="rId1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360" y="5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Implementing AI-Driven Cybersecurity</a:t>
            </a:r>
            <a:endParaRPr lang="en-US" sz="4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Himanshi Aggarwal(2210991655)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Gurpreet Kaur(2210991597)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Kashish Mahana(2210990497)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Swati Goel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30263" y="1029220"/>
            <a:ext cx="4324230" cy="1556676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Urbanist Medium"/>
                <a:ea typeface="Urbanist Medium"/>
                <a:cs typeface="Urbanist Medium"/>
                <a:sym typeface="Urbanist Medium"/>
              </a:rPr>
              <a:t>The Need for Intelligent Systems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9A85F8-BA82-1498-E3E1-08DC57C4F6C4}"/>
              </a:ext>
            </a:extLst>
          </p:cNvPr>
          <p:cNvSpPr txBox="1"/>
          <p:nvPr/>
        </p:nvSpPr>
        <p:spPr>
          <a:xfrm>
            <a:off x="430263" y="2777396"/>
            <a:ext cx="37917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Urbanist"/>
                <a:ea typeface="Urbanist"/>
                <a:cs typeface="Urbanist"/>
                <a:sym typeface="Urbanist"/>
              </a:rPr>
              <a:t>Traditional signature-based defenses are failing against </a:t>
            </a:r>
            <a:r>
              <a:rPr lang="en-US" sz="1600" b="1" dirty="0">
                <a:latin typeface="Urbanist"/>
                <a:ea typeface="Urbanist"/>
                <a:cs typeface="Urbanist"/>
                <a:sym typeface="Urbanist"/>
              </a:rPr>
              <a:t>Zero-Day exploits</a:t>
            </a:r>
            <a:r>
              <a:rPr lang="en-US" sz="1600" dirty="0">
                <a:latin typeface="Urbanist"/>
                <a:ea typeface="Urbanist"/>
                <a:cs typeface="Urbanist"/>
                <a:sym typeface="Urbanist"/>
              </a:rPr>
              <a:t> and polymorphic malware.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6524D2-2AAE-0A58-9D72-94C06512777C}"/>
              </a:ext>
            </a:extLst>
          </p:cNvPr>
          <p:cNvSpPr txBox="1"/>
          <p:nvPr/>
        </p:nvSpPr>
        <p:spPr>
          <a:xfrm>
            <a:off x="430262" y="3718107"/>
            <a:ext cx="37917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Urbanist"/>
                <a:ea typeface="Urbanist"/>
                <a:cs typeface="Urbanist"/>
                <a:sym typeface="Urbanist"/>
              </a:rPr>
              <a:t>Sophisticated socially engineered phishing campaigns now evade rule-based filters with ease.</a:t>
            </a:r>
            <a:endParaRPr lang="en-US" sz="1600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6F1BF3-8354-C52A-086A-5D7201B7A163}"/>
              </a:ext>
            </a:extLst>
          </p:cNvPr>
          <p:cNvSpPr txBox="1"/>
          <p:nvPr/>
        </p:nvSpPr>
        <p:spPr>
          <a:xfrm>
            <a:off x="430262" y="4720784"/>
            <a:ext cx="39423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Urbanist"/>
                <a:ea typeface="Urbanist"/>
                <a:cs typeface="Urbanist"/>
                <a:sym typeface="Urbanist"/>
              </a:rPr>
              <a:t>There is an urgent need for </a:t>
            </a:r>
            <a:r>
              <a:rPr lang="en-US" sz="1600" b="1" dirty="0">
                <a:latin typeface="Urbanist"/>
                <a:ea typeface="Urbanist"/>
                <a:cs typeface="Urbanist"/>
                <a:sym typeface="Urbanist"/>
              </a:rPr>
              <a:t>adaptive, real-time</a:t>
            </a:r>
            <a:r>
              <a:rPr lang="en-US" sz="1600" dirty="0">
                <a:latin typeface="Urbanist"/>
                <a:ea typeface="Urbanist"/>
                <a:cs typeface="Urbanist"/>
                <a:sym typeface="Urbanist"/>
              </a:rPr>
              <a:t> security that detects threats without pre-defined signatures.</a:t>
            </a:r>
            <a:endParaRPr lang="en-US" sz="1600" dirty="0"/>
          </a:p>
          <a:p>
            <a:endParaRPr lang="en-IN" dirty="0"/>
          </a:p>
        </p:txBody>
      </p:sp>
      <p:pic>
        <p:nvPicPr>
          <p:cNvPr id="8" name="Google Shape;93;p14" descr="image.png">
            <a:extLst>
              <a:ext uri="{FF2B5EF4-FFF2-40B4-BE49-F238E27FC236}">
                <a16:creationId xmlns:a16="http://schemas.microsoft.com/office/drawing/2014/main" id="{23398A13-CDAD-C4AC-BD07-7E8E8840176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71352" y="837720"/>
            <a:ext cx="4372647" cy="5883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40B4-FF08-E178-D2F7-279C78EB2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dirty="0">
                <a:latin typeface="Urbanist Medium"/>
                <a:ea typeface="Urbanist Medium"/>
                <a:cs typeface="Urbanist Medium"/>
                <a:sym typeface="Urbanist Medium"/>
              </a:rPr>
              <a:t>Core AI Techniques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4E856-4A73-FBBA-872C-5354AE21A5AC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929428"/>
            <a:ext cx="8229240" cy="2999144"/>
          </a:xfrm>
        </p:spPr>
        <p:txBody>
          <a:bodyPr/>
          <a:lstStyle/>
          <a:p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Leveraging the diverse toolkit of Artificial Intelligence to transform the </a:t>
            </a:r>
            <a:r>
              <a:rPr lang="en-US" dirty="0" err="1">
                <a:latin typeface="Urbanist"/>
                <a:ea typeface="Urbanist"/>
                <a:cs typeface="Urbanist"/>
                <a:sym typeface="Urbanist"/>
              </a:rPr>
              <a:t>defence</a:t>
            </a: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 landscape.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6485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02607-3CAF-4159-F050-3C5BEFBAE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128574" cy="914040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dirty="0">
                <a:latin typeface="Urbanist Medium"/>
                <a:ea typeface="Urbanist Medium"/>
                <a:cs typeface="Urbanist Medium"/>
                <a:sym typeface="Urbanist Medium"/>
              </a:rPr>
              <a:t>AI Methods in </a:t>
            </a:r>
            <a:r>
              <a:rPr lang="en-US" dirty="0" err="1">
                <a:latin typeface="Urbanist Medium"/>
                <a:ea typeface="Urbanist Medium"/>
                <a:cs typeface="Urbanist Medium"/>
                <a:sym typeface="Urbanist Medium"/>
              </a:rPr>
              <a:t>CyberSec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01F37-4219-B488-FD72-B795132F81E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30493" y="2552363"/>
            <a:ext cx="2366711" cy="2554546"/>
          </a:xfr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pPr marL="0" indent="0" algn="ctr">
              <a:buNone/>
            </a:pPr>
            <a:r>
              <a:rPr lang="en-US" sz="1800" b="1" dirty="0">
                <a:latin typeface="Urbanist Medium"/>
                <a:ea typeface="Urbanist Medium"/>
                <a:cs typeface="Urbanist Medium"/>
                <a:sym typeface="Urbanist Medium"/>
              </a:rPr>
              <a:t>Machine Learning</a:t>
            </a:r>
            <a:br>
              <a:rPr lang="en-US" sz="1800" b="1" dirty="0">
                <a:latin typeface="Urbanist Medium"/>
                <a:ea typeface="Urbanist Medium"/>
                <a:cs typeface="Urbanist Medium"/>
                <a:sym typeface="Urbanist Medium"/>
              </a:rPr>
            </a:br>
            <a:endParaRPr lang="en-IN" sz="1400" dirty="0"/>
          </a:p>
          <a:p>
            <a:pPr marL="0" indent="0" algn="ctr">
              <a:buNone/>
            </a:pPr>
            <a:r>
              <a:rPr lang="en-US" sz="1400" dirty="0">
                <a:latin typeface="Urbanist"/>
                <a:ea typeface="Urbanist"/>
                <a:cs typeface="Urbanist"/>
                <a:sym typeface="Urbanist"/>
              </a:rPr>
              <a:t>Supervised algorithms, such as Random Forest, learn discriminative features to classify network traffic and sessions.</a:t>
            </a:r>
            <a:endParaRPr lang="en-US" sz="1400" dirty="0"/>
          </a:p>
          <a:p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92D313-43A7-2BB3-598E-51FA4FF90D51}"/>
              </a:ext>
            </a:extLst>
          </p:cNvPr>
          <p:cNvSpPr txBox="1"/>
          <p:nvPr/>
        </p:nvSpPr>
        <p:spPr>
          <a:xfrm>
            <a:off x="3347566" y="2552362"/>
            <a:ext cx="2536558" cy="255454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algn="ctr"/>
            <a:r>
              <a:rPr lang="en-US" b="1" dirty="0">
                <a:latin typeface="Urbanist Medium"/>
                <a:ea typeface="Urbanist Medium"/>
                <a:cs typeface="Urbanist Medium"/>
                <a:sym typeface="Urbanist Medium"/>
              </a:rPr>
              <a:t>Deep Learning</a:t>
            </a:r>
          </a:p>
          <a:p>
            <a:pPr algn="ctr"/>
            <a:endParaRPr lang="en-US" dirty="0"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algn="ctr"/>
            <a:r>
              <a:rPr lang="en-US" sz="1400" dirty="0">
                <a:latin typeface="Urbanist"/>
                <a:ea typeface="Urbanist"/>
                <a:cs typeface="Urbanist"/>
                <a:sym typeface="Urbanist"/>
              </a:rPr>
              <a:t>DNNs and CNNs enable </a:t>
            </a:r>
            <a:r>
              <a:rPr lang="en-US" sz="1400" b="1" dirty="0">
                <a:latin typeface="Urbanist"/>
                <a:ea typeface="Urbanist"/>
                <a:cs typeface="Urbanist"/>
                <a:sym typeface="Urbanist"/>
              </a:rPr>
              <a:t>the automatic extraction of features from raw binary data, thereby bypassing the need for </a:t>
            </a:r>
            <a:r>
              <a:rPr lang="en-US" sz="1400" dirty="0">
                <a:latin typeface="Urbanist"/>
                <a:ea typeface="Urbanist"/>
                <a:cs typeface="Urbanist"/>
                <a:sym typeface="Urbanist"/>
              </a:rPr>
              <a:t>manual engineering.</a:t>
            </a:r>
            <a:endParaRPr lang="en-US" sz="1400" dirty="0"/>
          </a:p>
          <a:p>
            <a:pPr algn="just"/>
            <a:endParaRPr lang="en-US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C5F5EE-DC46-C609-6845-57B54629AC53}"/>
              </a:ext>
            </a:extLst>
          </p:cNvPr>
          <p:cNvSpPr txBox="1"/>
          <p:nvPr/>
        </p:nvSpPr>
        <p:spPr>
          <a:xfrm>
            <a:off x="6334487" y="2552363"/>
            <a:ext cx="2279020" cy="255454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algn="ctr"/>
            <a:r>
              <a:rPr lang="en-US" b="1" dirty="0">
                <a:latin typeface="Urbanist Medium"/>
                <a:ea typeface="Urbanist Medium"/>
                <a:cs typeface="Urbanist Medium"/>
                <a:sym typeface="Urbanist Medium"/>
              </a:rPr>
              <a:t>NLP</a:t>
            </a:r>
          </a:p>
          <a:p>
            <a:pPr algn="ctr"/>
            <a:endParaRPr lang="en-US" dirty="0"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algn="ctr"/>
            <a:r>
              <a:rPr lang="en-US" sz="1400" dirty="0">
                <a:latin typeface="Urbanist"/>
                <a:ea typeface="Urbanist"/>
                <a:cs typeface="Urbanist"/>
                <a:sym typeface="Urbanist"/>
              </a:rPr>
              <a:t>Understanding unstructured text via </a:t>
            </a:r>
            <a:r>
              <a:rPr lang="en-US" sz="1400" b="1" dirty="0">
                <a:latin typeface="Urbanist"/>
                <a:ea typeface="Urbanist"/>
                <a:cs typeface="Urbanist"/>
                <a:sym typeface="Urbanist"/>
              </a:rPr>
              <a:t>BERT</a:t>
            </a:r>
            <a:r>
              <a:rPr lang="en-US" sz="1400" dirty="0">
                <a:latin typeface="Urbanist"/>
                <a:ea typeface="Urbanist"/>
                <a:cs typeface="Urbanist"/>
                <a:sym typeface="Urbanist"/>
              </a:rPr>
              <a:t> to detect social engineering patterns in phishing emails.</a:t>
            </a:r>
            <a:endParaRPr lang="en-US" sz="14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6561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878857" y="2896016"/>
            <a:ext cx="1737723" cy="183009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IN" sz="1400" dirty="0"/>
              <a:t>AI Inference</a:t>
            </a:r>
          </a:p>
          <a:p>
            <a:endParaRPr lang="en-IN" sz="1200" dirty="0"/>
          </a:p>
          <a:p>
            <a:br>
              <a:rPr lang="en-IN" sz="1200" dirty="0"/>
            </a:br>
            <a:r>
              <a:rPr lang="en-US" sz="1200" dirty="0"/>
              <a:t>ML/DL models output classification and confidence.</a:t>
            </a:r>
          </a:p>
          <a:p>
            <a:br>
              <a:rPr lang="en-US" sz="1400" dirty="0"/>
            </a:br>
            <a:endParaRPr lang="e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616580" y="6362869"/>
            <a:ext cx="2133360" cy="439757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FC0ED4-3F23-E88F-F74F-4306032DE54E}"/>
              </a:ext>
            </a:extLst>
          </p:cNvPr>
          <p:cNvSpPr txBox="1"/>
          <p:nvPr/>
        </p:nvSpPr>
        <p:spPr>
          <a:xfrm>
            <a:off x="63500" y="81518"/>
            <a:ext cx="64960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Threat Detection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52166-F7AE-95F8-B755-035C0C79F317}"/>
              </a:ext>
            </a:extLst>
          </p:cNvPr>
          <p:cNvSpPr txBox="1"/>
          <p:nvPr/>
        </p:nvSpPr>
        <p:spPr>
          <a:xfrm>
            <a:off x="465931" y="3012380"/>
            <a:ext cx="1624012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Data Collection</a:t>
            </a:r>
          </a:p>
          <a:p>
            <a:endParaRPr lang="en-IN" dirty="0"/>
          </a:p>
          <a:p>
            <a:r>
              <a:rPr lang="en-US" sz="1200" dirty="0"/>
              <a:t>Ingesting network packet captures and endpoint logs.</a:t>
            </a:r>
          </a:p>
          <a:p>
            <a:br>
              <a:rPr lang="en-US" dirty="0"/>
            </a:br>
            <a:br>
              <a:rPr lang="en-IN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C1D6E-89E2-64E5-6819-EC039180E375}"/>
              </a:ext>
            </a:extLst>
          </p:cNvPr>
          <p:cNvSpPr txBox="1"/>
          <p:nvPr/>
        </p:nvSpPr>
        <p:spPr>
          <a:xfrm>
            <a:off x="2621756" y="2989560"/>
            <a:ext cx="175795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Preprocessing</a:t>
            </a:r>
          </a:p>
          <a:p>
            <a:endParaRPr lang="en-IN" dirty="0"/>
          </a:p>
          <a:p>
            <a:r>
              <a:rPr lang="en-US" sz="1200" dirty="0" err="1"/>
              <a:t>Normalisation</a:t>
            </a:r>
            <a:r>
              <a:rPr lang="en-US" sz="1200" dirty="0"/>
              <a:t> and automated feature extraction.</a:t>
            </a:r>
          </a:p>
          <a:p>
            <a:br>
              <a:rPr lang="en-US" dirty="0"/>
            </a:br>
            <a:br>
              <a:rPr lang="en-IN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70B482-50F2-F239-B2D3-A5D4F1DB4F64}"/>
              </a:ext>
            </a:extLst>
          </p:cNvPr>
          <p:cNvSpPr txBox="1"/>
          <p:nvPr/>
        </p:nvSpPr>
        <p:spPr>
          <a:xfrm>
            <a:off x="7115729" y="2989560"/>
            <a:ext cx="156234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Response</a:t>
            </a:r>
          </a:p>
          <a:p>
            <a:endParaRPr lang="en-IN" sz="1200" dirty="0"/>
          </a:p>
          <a:p>
            <a:br>
              <a:rPr lang="en-IN" sz="1200" dirty="0"/>
            </a:br>
            <a:r>
              <a:rPr lang="en-US" sz="1200" dirty="0"/>
              <a:t>Automated IP blocking or session quarantine.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10" name="Google Shape;132;p17">
            <a:extLst>
              <a:ext uri="{FF2B5EF4-FFF2-40B4-BE49-F238E27FC236}">
                <a16:creationId xmlns:a16="http://schemas.microsoft.com/office/drawing/2014/main" id="{ECC02FEB-C202-C676-2A40-6B388575CFFF}"/>
              </a:ext>
            </a:extLst>
          </p:cNvPr>
          <p:cNvSpPr/>
          <p:nvPr/>
        </p:nvSpPr>
        <p:spPr>
          <a:xfrm flipV="1">
            <a:off x="366804" y="3307081"/>
            <a:ext cx="804059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highlight>
                <a:srgbClr val="000000"/>
              </a:highlight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9F9AC-6ACB-E694-77CA-EA5488CD7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73900" cy="914040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sz="3900" dirty="0">
                <a:latin typeface="Urbanist Medium"/>
                <a:ea typeface="Urbanist Medium"/>
                <a:cs typeface="Urbanist Medium"/>
                <a:sym typeface="Urbanist Medium"/>
              </a:rPr>
              <a:t>Primary Detection Algorithms</a:t>
            </a:r>
            <a:endParaRPr lang="en-US" sz="39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C6DC5-9374-62D2-A97B-9AB176FD19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3960" y="2197100"/>
            <a:ext cx="3927540" cy="26035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Urbanist Medium"/>
                <a:ea typeface="Urbanist Medium"/>
                <a:cs typeface="Urbanist Medium"/>
                <a:sym typeface="Urbanist Medium"/>
              </a:rPr>
              <a:t> Real-Time Detection</a:t>
            </a:r>
            <a:endParaRPr lang="en-US" sz="2000" dirty="0"/>
          </a:p>
          <a:p>
            <a:endParaRPr lang="en-IN" dirty="0"/>
          </a:p>
          <a:p>
            <a:r>
              <a:rPr lang="en-US" sz="1600" dirty="0">
                <a:latin typeface="Urbanist"/>
                <a:ea typeface="Urbanist"/>
                <a:cs typeface="Urbanist"/>
                <a:sym typeface="Urbanist"/>
              </a:rPr>
              <a:t>Uses Random Forest and LSTM on the </a:t>
            </a:r>
            <a:r>
              <a:rPr lang="en-US" sz="1600" b="1" dirty="0">
                <a:latin typeface="Urbanist"/>
                <a:ea typeface="Urbanist"/>
                <a:cs typeface="Urbanist"/>
                <a:sym typeface="Urbanist"/>
              </a:rPr>
              <a:t>NSL-KDD</a:t>
            </a:r>
            <a:r>
              <a:rPr lang="en-US" sz="1600" dirty="0">
                <a:latin typeface="Urbanist"/>
                <a:ea typeface="Urbanist"/>
                <a:cs typeface="Urbanist"/>
                <a:sym typeface="Urbanist"/>
              </a:rPr>
              <a:t> dataset. Integrates deviation scoring to identify </a:t>
            </a:r>
            <a:r>
              <a:rPr lang="en-US" sz="1600" dirty="0" err="1">
                <a:latin typeface="Urbanist"/>
                <a:ea typeface="Urbanist"/>
                <a:cs typeface="Urbanist"/>
                <a:sym typeface="Urbanist"/>
              </a:rPr>
              <a:t>behavioural</a:t>
            </a:r>
            <a:r>
              <a:rPr lang="en-US" sz="1600" dirty="0">
                <a:latin typeface="Urbanist"/>
                <a:ea typeface="Urbanist"/>
                <a:cs typeface="Urbanist"/>
                <a:sym typeface="Urbanist"/>
              </a:rPr>
              <a:t> anomalies.</a:t>
            </a:r>
            <a:endParaRPr lang="en-US" sz="1600" dirty="0"/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A5BA37-1B28-785D-837C-CFFB1E277DB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4240" y="2197100"/>
            <a:ext cx="4015800" cy="2603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 Phishing Analysis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sz="1700" dirty="0"/>
              <a:t>Combines </a:t>
            </a:r>
            <a:r>
              <a:rPr lang="en-US" sz="1700" b="1" dirty="0"/>
              <a:t>BERT embeddings</a:t>
            </a:r>
            <a:r>
              <a:rPr lang="en-US" sz="1700" dirty="0"/>
              <a:t> with lexical features (urgency, domain spoofing). Analyses body content and URL entropy.</a:t>
            </a:r>
            <a:br>
              <a:rPr lang="en-IN" sz="1700" dirty="0"/>
            </a:b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702444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71A10-F42C-5406-CC18-F1FA37C28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07200" cy="831850"/>
          </a:xfrm>
        </p:spPr>
        <p:txBody>
          <a:bodyPr/>
          <a:lstStyle/>
          <a:p>
            <a:r>
              <a:rPr lang="en-IN" sz="3200" dirty="0"/>
              <a:t>Deep Learning Malware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E32E6-3D98-B4CB-60D8-46826FDF891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7800" y="1604520"/>
            <a:ext cx="4295200" cy="3977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Algorithm 3: Multi-Layer DNN</a:t>
            </a:r>
          </a:p>
          <a:p>
            <a:r>
              <a:rPr lang="en-US" sz="1800" b="1" dirty="0"/>
              <a:t>Static Features:</a:t>
            </a:r>
            <a:r>
              <a:rPr lang="en-US" sz="1800" dirty="0"/>
              <a:t> PE headers, file entropy, and imported APIs.</a:t>
            </a:r>
          </a:p>
          <a:p>
            <a:br>
              <a:rPr lang="en-US" sz="1800" dirty="0"/>
            </a:br>
            <a:r>
              <a:rPr lang="en-US" sz="1800" b="1" dirty="0"/>
              <a:t>Dynamic Analysis:</a:t>
            </a:r>
            <a:r>
              <a:rPr lang="en-US" sz="1800" dirty="0"/>
              <a:t> Sandbox </a:t>
            </a:r>
            <a:r>
              <a:rPr lang="en-US" sz="1800" dirty="0" err="1"/>
              <a:t>syscall</a:t>
            </a:r>
            <a:r>
              <a:rPr lang="en-US" sz="1800" dirty="0"/>
              <a:t> sequences and memory access.</a:t>
            </a:r>
          </a:p>
          <a:p>
            <a:br>
              <a:rPr lang="en-US" sz="1800" dirty="0"/>
            </a:br>
            <a:r>
              <a:rPr lang="en-IN" sz="1800" b="1" dirty="0"/>
              <a:t>Classification:</a:t>
            </a:r>
            <a:r>
              <a:rPr lang="en-IN" sz="1800" dirty="0"/>
              <a:t> Categorises into 7 malware families (Virus, Trojan, Ransomware, etc).</a:t>
            </a:r>
          </a:p>
          <a:p>
            <a:r>
              <a:rPr lang="en-US" sz="1800" b="1" dirty="0"/>
              <a:t>Performance:</a:t>
            </a:r>
            <a:r>
              <a:rPr lang="en-US" sz="1800" dirty="0"/>
              <a:t> Achieved </a:t>
            </a:r>
            <a:r>
              <a:rPr lang="en-US" sz="1800" b="1" dirty="0"/>
              <a:t>95.2% accuracy</a:t>
            </a:r>
            <a:r>
              <a:rPr lang="en-US" sz="1800" dirty="0"/>
              <a:t> and 96.1% precision.</a:t>
            </a:r>
            <a:endParaRPr lang="en-IN" sz="1800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4EE1DDBD-6FBA-AB9F-0D49-1B6B18DA7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29312"/>
            <a:ext cx="4230688" cy="289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31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DD4FD-2D58-A71D-493A-DCD1E3BD8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" y="457200"/>
            <a:ext cx="8083550" cy="539600"/>
          </a:xfrm>
        </p:spPr>
        <p:txBody>
          <a:bodyPr/>
          <a:lstStyle/>
          <a:p>
            <a:r>
              <a:rPr lang="en-US" sz="3200" dirty="0">
                <a:latin typeface="Urbanist Medium"/>
                <a:ea typeface="Urbanist Medium"/>
                <a:cs typeface="Urbanist Medium"/>
                <a:sym typeface="Urbanist Medium"/>
              </a:rPr>
              <a:t>Unsupervised Anomaly Detection</a:t>
            </a:r>
            <a:br>
              <a:rPr lang="en-US" sz="3200" dirty="0"/>
            </a:b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28EEB-EF5B-EEBD-450A-09EB547B43C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2455420"/>
            <a:ext cx="4015800" cy="251663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b="1" dirty="0">
                <a:latin typeface="Urbanist"/>
                <a:ea typeface="Urbanist"/>
                <a:cs typeface="Urbanist"/>
                <a:sym typeface="Urbanist"/>
              </a:rPr>
              <a:t>93%</a:t>
            </a:r>
            <a:endParaRPr lang="en-US" sz="8000" dirty="0"/>
          </a:p>
          <a:p>
            <a:pPr marL="0" indent="0" algn="ctr">
              <a:buNone/>
            </a:pPr>
            <a:r>
              <a:rPr lang="en-US" sz="2000" dirty="0">
                <a:latin typeface="Urbanist Medium"/>
                <a:ea typeface="Urbanist Medium"/>
                <a:cs typeface="Urbanist Medium"/>
                <a:sym typeface="Urbanist Medium"/>
              </a:rPr>
              <a:t>Reconstruction Confidence</a:t>
            </a:r>
            <a:endParaRPr lang="en-US" sz="2000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C5E90-D45D-6689-5E57-BD552F20E59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394010" y="2455420"/>
            <a:ext cx="5591240" cy="2910330"/>
          </a:xfrm>
        </p:spPr>
        <p:txBody>
          <a:bodyPr>
            <a:normAutofit/>
          </a:bodyPr>
          <a:lstStyle/>
          <a:p>
            <a:pPr marL="457200" lvl="1" indent="0" algn="ctr">
              <a:buNone/>
            </a:pPr>
            <a:r>
              <a:rPr lang="en-US" sz="2600" b="1" dirty="0">
                <a:latin typeface="Urbanist Medium"/>
                <a:ea typeface="Urbanist Medium"/>
                <a:cs typeface="Urbanist Medium"/>
                <a:sym typeface="Urbanist Medium"/>
              </a:rPr>
              <a:t>Algorithm 4: Autoencoders</a:t>
            </a:r>
            <a:endParaRPr lang="en-US" sz="2600" b="1" dirty="0"/>
          </a:p>
          <a:p>
            <a:pPr lvl="1"/>
            <a:r>
              <a:rPr lang="en-US" sz="1600" dirty="0">
                <a:latin typeface="Urbanist"/>
                <a:ea typeface="Urbanist"/>
                <a:cs typeface="Urbanist"/>
                <a:sym typeface="Urbanist"/>
              </a:rPr>
              <a:t>Trained exclusively on </a:t>
            </a:r>
            <a:r>
              <a:rPr lang="en-US" sz="1600" b="1" dirty="0">
                <a:latin typeface="Urbanist"/>
                <a:ea typeface="Urbanist"/>
                <a:cs typeface="Urbanist"/>
                <a:sym typeface="Urbanist"/>
              </a:rPr>
              <a:t>benign traffic</a:t>
            </a:r>
            <a:r>
              <a:rPr lang="en-US" sz="1600" dirty="0">
                <a:latin typeface="Urbanist"/>
                <a:ea typeface="Urbanist"/>
                <a:cs typeface="Urbanist"/>
                <a:sym typeface="Urbanist"/>
              </a:rPr>
              <a:t> to learn a compressed representation of normal </a:t>
            </a:r>
            <a:r>
              <a:rPr lang="en-US" sz="1600" dirty="0" err="1">
                <a:latin typeface="Urbanist"/>
                <a:ea typeface="Urbanist"/>
                <a:cs typeface="Urbanist"/>
                <a:sym typeface="Urbanist"/>
              </a:rPr>
              <a:t>behaviour</a:t>
            </a:r>
            <a:r>
              <a:rPr lang="en-US" sz="1600" dirty="0"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en-US" sz="1600" dirty="0"/>
          </a:p>
          <a:p>
            <a:pPr lvl="1"/>
            <a:r>
              <a:rPr lang="en-US" sz="1600" dirty="0">
                <a:latin typeface="Urbanist"/>
                <a:ea typeface="Urbanist"/>
                <a:cs typeface="Urbanist"/>
                <a:sym typeface="Urbanist"/>
              </a:rPr>
              <a:t>High reconstruction error signals malicious inputs, effectively detecting </a:t>
            </a:r>
            <a:r>
              <a:rPr lang="en-US" sz="1600" b="1" dirty="0">
                <a:latin typeface="Urbanist"/>
                <a:ea typeface="Urbanist"/>
                <a:cs typeface="Urbanist"/>
                <a:sym typeface="Urbanist"/>
              </a:rPr>
              <a:t>Novel Attacks</a:t>
            </a:r>
            <a:r>
              <a:rPr lang="en-US" sz="1600" dirty="0">
                <a:latin typeface="Urbanist"/>
                <a:ea typeface="Urbanist"/>
                <a:cs typeface="Urbanist"/>
                <a:sym typeface="Urbanist"/>
              </a:rPr>
              <a:t> with no known signature.</a:t>
            </a:r>
          </a:p>
          <a:p>
            <a:pPr lvl="1"/>
            <a:r>
              <a:rPr lang="en-US" sz="1600" i="1" dirty="0">
                <a:latin typeface="Urbanist"/>
                <a:ea typeface="Urbanist"/>
                <a:cs typeface="Urbanist"/>
                <a:sym typeface="Urbanist"/>
              </a:rPr>
              <a:t>Separates the signal of normal operation from the noise of zero-day exploits."</a:t>
            </a:r>
            <a:endParaRPr lang="en-US" sz="1600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2383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D5AD9-E166-2073-95EA-2D81EA66C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92950" cy="914040"/>
          </a:xfrm>
        </p:spPr>
        <p:txBody>
          <a:bodyPr/>
          <a:lstStyle/>
          <a:p>
            <a:r>
              <a:rPr lang="en-IN" sz="3600" dirty="0"/>
              <a:t>Detection Performance Metrics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8DBB06-17BA-F8C5-CC8F-D89E1A68C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482926"/>
              </p:ext>
            </p:extLst>
          </p:nvPr>
        </p:nvGraphicFramePr>
        <p:xfrm>
          <a:off x="169333" y="2123377"/>
          <a:ext cx="8779935" cy="2597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987">
                  <a:extLst>
                    <a:ext uri="{9D8B030D-6E8A-4147-A177-3AD203B41FA5}">
                      <a16:colId xmlns:a16="http://schemas.microsoft.com/office/drawing/2014/main" val="898769485"/>
                    </a:ext>
                  </a:extLst>
                </a:gridCol>
                <a:gridCol w="1755987">
                  <a:extLst>
                    <a:ext uri="{9D8B030D-6E8A-4147-A177-3AD203B41FA5}">
                      <a16:colId xmlns:a16="http://schemas.microsoft.com/office/drawing/2014/main" val="2306352406"/>
                    </a:ext>
                  </a:extLst>
                </a:gridCol>
                <a:gridCol w="1755987">
                  <a:extLst>
                    <a:ext uri="{9D8B030D-6E8A-4147-A177-3AD203B41FA5}">
                      <a16:colId xmlns:a16="http://schemas.microsoft.com/office/drawing/2014/main" val="3297526913"/>
                    </a:ext>
                  </a:extLst>
                </a:gridCol>
                <a:gridCol w="1755987">
                  <a:extLst>
                    <a:ext uri="{9D8B030D-6E8A-4147-A177-3AD203B41FA5}">
                      <a16:colId xmlns:a16="http://schemas.microsoft.com/office/drawing/2014/main" val="1745180963"/>
                    </a:ext>
                  </a:extLst>
                </a:gridCol>
                <a:gridCol w="1755987">
                  <a:extLst>
                    <a:ext uri="{9D8B030D-6E8A-4147-A177-3AD203B41FA5}">
                      <a16:colId xmlns:a16="http://schemas.microsoft.com/office/drawing/2014/main" val="3039173827"/>
                    </a:ext>
                  </a:extLst>
                </a:gridCol>
              </a:tblGrid>
              <a:tr h="318778">
                <a:tc>
                  <a:txBody>
                    <a:bodyPr/>
                    <a:lstStyle/>
                    <a:p>
                      <a:r>
                        <a:rPr lang="en-US" b="1" dirty="0"/>
                        <a:t>Threat Type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Accuracy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Precision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Recall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fontAlgn="ctr">
                        <a:buNone/>
                      </a:pPr>
                      <a:r>
                        <a:rPr lang="en-US" b="1" dirty="0"/>
                        <a:t>F1-Score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957617"/>
                  </a:ext>
                </a:extLst>
              </a:tr>
              <a:tr h="557861">
                <a:tc>
                  <a:txBody>
                    <a:bodyPr/>
                    <a:lstStyle/>
                    <a:p>
                      <a:r>
                        <a:rPr lang="en-US" sz="1400" dirty="0"/>
                        <a:t>Malware Detection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95.2%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96.1%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94.8%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0.951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045555"/>
                  </a:ext>
                </a:extLst>
              </a:tr>
              <a:tr h="557861">
                <a:tc>
                  <a:txBody>
                    <a:bodyPr/>
                    <a:lstStyle/>
                    <a:p>
                      <a:r>
                        <a:rPr lang="en-US" sz="1400" dirty="0"/>
                        <a:t>Phishing Detection</a:t>
                      </a:r>
                      <a:r>
                        <a:rPr lang="en-IN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91.4%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93.0%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90.5%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0.918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52485"/>
                  </a:ext>
                </a:extLst>
              </a:tr>
              <a:tr h="557861">
                <a:tc>
                  <a:txBody>
                    <a:bodyPr/>
                    <a:lstStyle/>
                    <a:p>
                      <a:r>
                        <a:rPr lang="en-US" sz="1400" dirty="0"/>
                        <a:t>Anomaly / Intrusion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87.6%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89.2%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86.1%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0.878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967694"/>
                  </a:ext>
                </a:extLst>
              </a:tr>
              <a:tr h="557861">
                <a:tc>
                  <a:txBody>
                    <a:bodyPr/>
                    <a:lstStyle/>
                    <a:p>
                      <a:r>
                        <a:rPr lang="en-US" sz="1400" dirty="0"/>
                        <a:t>Fraud Detection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93.1%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94.7%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91.9%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0.935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091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347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8DC2C-0243-AE7E-BE9A-69AAE59A9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42050" cy="914040"/>
          </a:xfrm>
        </p:spPr>
        <p:txBody>
          <a:bodyPr/>
          <a:lstStyle/>
          <a:p>
            <a:r>
              <a:rPr lang="en-IN" dirty="0"/>
              <a:t>Key Challenges &amp; Risks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F1686-04DB-D991-C596-CC2DCCE68B4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31800" y="1331470"/>
            <a:ext cx="7550150" cy="3361180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sz="1400" b="1" dirty="0">
                <a:latin typeface="Urbanist"/>
                <a:ea typeface="Urbanist"/>
                <a:cs typeface="Urbanist"/>
                <a:sym typeface="Urbanist"/>
              </a:rPr>
              <a:t>Adversarial Attacks:</a:t>
            </a:r>
            <a:r>
              <a:rPr lang="en-US" sz="1400" dirty="0">
                <a:latin typeface="Urbanist"/>
                <a:ea typeface="Urbanist"/>
                <a:cs typeface="Urbanist"/>
                <a:sym typeface="Urbanist"/>
              </a:rPr>
              <a:t> Input perturbations can reduce malware classifier accuracy from 95% to below 60%.</a:t>
            </a:r>
            <a:endParaRPr lang="en-US" sz="1400" dirty="0"/>
          </a:p>
          <a:p>
            <a:pPr algn="just">
              <a:lnSpc>
                <a:spcPct val="170000"/>
              </a:lnSpc>
            </a:pPr>
            <a:r>
              <a:rPr lang="en-US" sz="1400" b="1" dirty="0"/>
              <a:t>Data Privacy:</a:t>
            </a:r>
            <a:r>
              <a:rPr lang="en-US" sz="1400" dirty="0"/>
              <a:t> GDPR constraints limit the collection of large-scale </a:t>
            </a:r>
            <a:r>
              <a:rPr lang="en-US" sz="1400" dirty="0" err="1"/>
              <a:t>organisational</a:t>
            </a:r>
            <a:r>
              <a:rPr lang="en-US" sz="1400" dirty="0"/>
              <a:t> traffic data.</a:t>
            </a:r>
          </a:p>
          <a:p>
            <a:pPr algn="just">
              <a:lnSpc>
                <a:spcPct val="170000"/>
              </a:lnSpc>
            </a:pPr>
            <a:r>
              <a:rPr lang="en-US" sz="1400" b="1" dirty="0"/>
              <a:t>Bias:</a:t>
            </a:r>
            <a:r>
              <a:rPr lang="en-US" sz="1400" dirty="0"/>
              <a:t> Models trained on specific datasets may have blind spots for different regions or device types.</a:t>
            </a:r>
          </a:p>
          <a:p>
            <a:pPr>
              <a:lnSpc>
                <a:spcPct val="170000"/>
              </a:lnSpc>
            </a:pPr>
            <a:r>
              <a:rPr lang="en-US" sz="1400" b="1" dirty="0"/>
              <a:t>Explainability (XAI):</a:t>
            </a:r>
            <a:r>
              <a:rPr lang="en-US" sz="1400" dirty="0"/>
              <a:t> Black-box models remain challenging to audit in regulated sectors, such as banking.</a:t>
            </a:r>
            <a:br>
              <a:rPr lang="en-US" sz="1400" dirty="0"/>
            </a:br>
            <a:br>
              <a:rPr lang="en-US" sz="1400" dirty="0"/>
            </a:b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77504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E3FCF-972F-3073-98FC-3D89EF728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648450" cy="914040"/>
          </a:xfrm>
        </p:spPr>
        <p:txBody>
          <a:bodyPr/>
          <a:lstStyle/>
          <a:p>
            <a:r>
              <a:rPr lang="en-IN" sz="4000" dirty="0"/>
              <a:t>Conclusion &amp; 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A9BDF-5FF3-F62E-7704-981786A5560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24594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Implementation of Federated Learning for privacy.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Lightweight architectures for IoT Edge security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A22D6-8969-40A8-9830-0C73A5347DA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25356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600" dirty="0"/>
              <a:t>Integrating SHAP/LIME for model transparency.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Cross-domain threat correlation frameworks.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6AF4C1-A636-A7C4-F484-E706129F84C7}"/>
              </a:ext>
            </a:extLst>
          </p:cNvPr>
          <p:cNvSpPr txBox="1"/>
          <p:nvPr/>
        </p:nvSpPr>
        <p:spPr>
          <a:xfrm>
            <a:off x="2222500" y="4197350"/>
            <a:ext cx="49911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Any Questions?</a:t>
            </a:r>
          </a:p>
          <a:p>
            <a:br>
              <a:rPr lang="en-IN" dirty="0"/>
            </a:br>
            <a:r>
              <a:rPr lang="en-IN" dirty="0"/>
              <a:t>Contact: gurpreet1597.be22@chitkara.edu.in</a:t>
            </a: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5278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35860</TotalTime>
  <Words>569</Words>
  <Application>Microsoft Office PowerPoint</Application>
  <PresentationFormat>On-screen Show (4:3)</PresentationFormat>
  <Paragraphs>110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Times New Roman</vt:lpstr>
      <vt:lpstr>Urbanist</vt:lpstr>
      <vt:lpstr>Urbanist Medium</vt:lpstr>
      <vt:lpstr>Office Theme</vt:lpstr>
      <vt:lpstr>PowerPoint Presentation</vt:lpstr>
      <vt:lpstr>PowerPoint Presentation</vt:lpstr>
      <vt:lpstr>Core AI Techniques</vt:lpstr>
      <vt:lpstr>AI Methods in CyberSec</vt:lpstr>
      <vt:lpstr>PowerPoint Presentation</vt:lpstr>
      <vt:lpstr>Primary Detection Algorithms</vt:lpstr>
      <vt:lpstr>Deep Learning Malware Analysis</vt:lpstr>
      <vt:lpstr>Unsupervised Anomaly Detection </vt:lpstr>
      <vt:lpstr>Detection Performance Metrics</vt:lpstr>
      <vt:lpstr>Key Challenges &amp; Risks</vt:lpstr>
      <vt:lpstr>Conclusion &amp; Future Work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Anshul Garg</cp:lastModifiedBy>
  <cp:revision>2301</cp:revision>
  <dcterms:created xsi:type="dcterms:W3CDTF">2010-04-09T07:36:15Z</dcterms:created>
  <dcterms:modified xsi:type="dcterms:W3CDTF">2026-05-09T06:10:14Z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